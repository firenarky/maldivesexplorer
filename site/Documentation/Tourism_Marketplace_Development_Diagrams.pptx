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8754B9-985F-4790-89F0-0508E0B293A9}" type="datetimeFigureOut">
              <a:t>10/10/2026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C70D1-AEE8-4AB6-BB65-42BBF588432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891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Reference scope informed by publicly visible Maldives.com sections: resorts, offers, activities, articles and quote planner.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Maldives.com public navigation exposes resorts, things to do, offers, articles and a quote planner.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Journey is a proposed target operating model derived from the public quote-planner and content-led marketplace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Proposed workflow for implementation; not a claim about the reference website’s internal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Architecture is a recommended target design, not verified backend technology of Maldives.com.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Proposed normalized data model for the SRS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Proposed CRM and quotation data model for the SRS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Proposed RBAC capability matrix; requires business approval.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Security model is a proposed baseline. Applicable privacy, retention and payment obligations require legal and compliance confirmation.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Phasing is a recommendation for planning and prioritization.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Decision checklist is a proposed governance aid.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967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Tourism Marketplace Platform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95360" y="6519672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090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• CONCEPT DESIGN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909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909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3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3B4C"/>
          </a:solidFill>
          <a:ln w="12700">
            <a:solidFill>
              <a:srgbClr val="103B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00000">
            <a:off x="7680960" y="-1097280"/>
            <a:ext cx="5943600" cy="5943600"/>
          </a:xfrm>
          <a:prstGeom prst="arc">
            <a:avLst/>
          </a:prstGeom>
          <a:solidFill>
            <a:srgbClr val="00A6A6">
              <a:alpha val="85000"/>
            </a:srgbClr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1430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Tourism Marketplace Platform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85800" y="190195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BFE9E6"/>
                </a:solidFill>
              </a:rPr>
              <a:t>Development diagrams and executive decision pack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85800" y="2606040"/>
            <a:ext cx="699516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6F2F4"/>
                </a:solidFill>
              </a:rPr>
              <a:t>Includes ERD, customer journey, system flow, architecture, workflows, integrations, security boundaries and delivery scope.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94944" y="3749040"/>
            <a:ext cx="2011680" cy="0"/>
          </a:xfrm>
          <a:prstGeom prst="line">
            <a:avLst/>
          </a:prstGeom>
          <a:noFill/>
          <a:ln w="63500">
            <a:solidFill>
              <a:srgbClr val="FF7A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9776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Executive + Technical Working Draft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909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3B4C"/>
                </a:solidFill>
              </a:rPr>
              <a:t>1. Platform landscape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07080"/>
                </a:solidFill>
              </a:rPr>
              <a:t>A single digital platform connecting discovery, consultation, quotation and content operations.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DFF6F4"/>
          </a:solidFill>
          <a:ln w="15240">
            <a:solidFill>
              <a:srgbClr val="00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417320"/>
            <a:ext cx="1700784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313F"/>
                </a:solidFill>
              </a:rPr>
              <a:t>Traveler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78892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FFF4E8"/>
          </a:solidFill>
          <a:ln w="15240">
            <a:solidFill>
              <a:srgbClr val="FF7A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880360"/>
            <a:ext cx="1700784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2313F"/>
                </a:solidFill>
              </a:rPr>
              <a:t>Travel Consultant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425196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F4EEFF"/>
          </a:solidFill>
          <a:ln w="15240">
            <a:solidFill>
              <a:srgbClr val="8C6B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4343400"/>
            <a:ext cx="1700784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2313F"/>
                </a:solidFill>
              </a:rPr>
              <a:t>Content / Admin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794760" y="1234440"/>
            <a:ext cx="4023360" cy="388620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5240">
            <a:solidFill>
              <a:srgbClr val="00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04488" y="1325880"/>
            <a:ext cx="3803904" cy="3703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2313F"/>
                </a:solidFill>
              </a:rPr>
              <a:t>TOURISM MARKETPLACE</a:t>
            </a:r>
            <a:endParaRPr lang="en-US" sz="2300" dirty="0"/>
          </a:p>
          <a:p>
            <a:pPr marL="0" indent="0" algn="ctr">
              <a:buNone/>
            </a:pPr>
            <a:endParaRPr lang="en-US" sz="2300" dirty="0"/>
          </a:p>
          <a:p>
            <a:pPr marL="0" indent="0" algn="ctr">
              <a:buNone/>
            </a:pPr>
            <a:r>
              <a:rPr lang="en-US" sz="2300" b="1" dirty="0">
                <a:solidFill>
                  <a:srgbClr val="22313F"/>
                </a:solidFill>
              </a:rPr>
              <a:t>Discover • Compare • Enquire</a:t>
            </a:r>
            <a:endParaRPr lang="en-US" sz="2300" dirty="0"/>
          </a:p>
          <a:p>
            <a:pPr marL="0" indent="0" algn="ctr">
              <a:buNone/>
            </a:pPr>
            <a:r>
              <a:rPr lang="en-US" sz="2300" b="1" dirty="0">
                <a:solidFill>
                  <a:srgbClr val="22313F"/>
                </a:solidFill>
              </a:rPr>
              <a:t>Quote • Content • CRM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9235440" y="1280160"/>
            <a:ext cx="2240280" cy="658368"/>
          </a:xfrm>
          <a:prstGeom prst="roundRect">
            <a:avLst>
              <a:gd name="adj" fmla="val 11111"/>
            </a:avLst>
          </a:prstGeom>
          <a:solidFill>
            <a:srgbClr val="EEF4F6"/>
          </a:solidFill>
          <a:ln w="15240">
            <a:solidFill>
              <a:srgbClr val="C9D6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45168" y="1371600"/>
            <a:ext cx="2020824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313F"/>
                </a:solidFill>
              </a:rPr>
              <a:t>Resort Partners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235440" y="2240280"/>
            <a:ext cx="2240280" cy="658368"/>
          </a:xfrm>
          <a:prstGeom prst="roundRect">
            <a:avLst>
              <a:gd name="adj" fmla="val 11111"/>
            </a:avLst>
          </a:prstGeom>
          <a:solidFill>
            <a:srgbClr val="EEF4F6"/>
          </a:solidFill>
          <a:ln w="15240">
            <a:solidFill>
              <a:srgbClr val="C9D6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45168" y="2331720"/>
            <a:ext cx="2020824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313F"/>
                </a:solidFill>
              </a:rPr>
              <a:t>Email / Messaging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235440" y="3200400"/>
            <a:ext cx="2240280" cy="658368"/>
          </a:xfrm>
          <a:prstGeom prst="roundRect">
            <a:avLst>
              <a:gd name="adj" fmla="val 11111"/>
            </a:avLst>
          </a:prstGeom>
          <a:solidFill>
            <a:srgbClr val="EEF4F6"/>
          </a:solidFill>
          <a:ln w="15240">
            <a:solidFill>
              <a:srgbClr val="C9D6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45168" y="3291840"/>
            <a:ext cx="2020824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313F"/>
                </a:solidFill>
              </a:rPr>
              <a:t>Maps / Geocoding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235440" y="4160520"/>
            <a:ext cx="2240280" cy="658368"/>
          </a:xfrm>
          <a:prstGeom prst="roundRect">
            <a:avLst>
              <a:gd name="adj" fmla="val 11111"/>
            </a:avLst>
          </a:prstGeom>
          <a:solidFill>
            <a:srgbClr val="EEF4F6"/>
          </a:solidFill>
          <a:ln w="15240">
            <a:solidFill>
              <a:srgbClr val="C9D6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45168" y="4251960"/>
            <a:ext cx="2020824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313F"/>
                </a:solidFill>
              </a:rPr>
              <a:t>Analytics / Marketing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235440" y="5120640"/>
            <a:ext cx="2240280" cy="658368"/>
          </a:xfrm>
          <a:prstGeom prst="roundRect">
            <a:avLst>
              <a:gd name="adj" fmla="val 11111"/>
            </a:avLst>
          </a:prstGeom>
          <a:solidFill>
            <a:srgbClr val="EEF4F6"/>
          </a:solidFill>
          <a:ln w="15240">
            <a:solidFill>
              <a:srgbClr val="C9D6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45168" y="5212080"/>
            <a:ext cx="2020824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313F"/>
                </a:solidFill>
              </a:rPr>
              <a:t>Payments (Phase 2)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468880" y="1691640"/>
            <a:ext cx="1325880" cy="0"/>
          </a:xfrm>
          <a:prstGeom prst="line">
            <a:avLst/>
          </a:prstGeom>
          <a:noFill/>
          <a:ln w="2540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468880" y="3154680"/>
            <a:ext cx="1325880" cy="0"/>
          </a:xfrm>
          <a:prstGeom prst="line">
            <a:avLst/>
          </a:prstGeom>
          <a:noFill/>
          <a:ln w="2540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468880" y="4617720"/>
            <a:ext cx="1325880" cy="0"/>
          </a:xfrm>
          <a:prstGeom prst="line">
            <a:avLst/>
          </a:prstGeom>
          <a:noFill/>
          <a:ln w="2540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818120" y="1609344"/>
            <a:ext cx="1417320" cy="0"/>
          </a:xfrm>
          <a:prstGeom prst="line">
            <a:avLst/>
          </a:prstGeom>
          <a:noFill/>
          <a:ln w="2540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818120" y="2569464"/>
            <a:ext cx="1417320" cy="0"/>
          </a:xfrm>
          <a:prstGeom prst="line">
            <a:avLst/>
          </a:prstGeom>
          <a:noFill/>
          <a:ln w="2540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818120" y="3529584"/>
            <a:ext cx="1417320" cy="0"/>
          </a:xfrm>
          <a:prstGeom prst="line">
            <a:avLst/>
          </a:prstGeom>
          <a:noFill/>
          <a:ln w="2540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818120" y="4489704"/>
            <a:ext cx="1417320" cy="0"/>
          </a:xfrm>
          <a:prstGeom prst="line">
            <a:avLst/>
          </a:prstGeom>
          <a:noFill/>
          <a:ln w="2540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818120" y="5449824"/>
            <a:ext cx="1417320" cy="0"/>
          </a:xfrm>
          <a:prstGeom prst="line">
            <a:avLst/>
          </a:prstGeom>
          <a:noFill/>
          <a:ln w="2540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909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3B4C"/>
                </a:solidFill>
              </a:rPr>
              <a:t>2. End-to-end customer journey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07080"/>
                </a:solidFill>
              </a:rPr>
              <a:t>Executive view of how anonymous traffic becomes a confirmed travel opportunity.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1325880" cy="1325880"/>
          </a:xfrm>
          <a:prstGeom prst="ellipse">
            <a:avLst/>
          </a:prstGeom>
          <a:solidFill>
            <a:srgbClr val="DFF6F4"/>
          </a:solidFill>
          <a:ln w="25400">
            <a:solidFill>
              <a:srgbClr val="00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0976" y="214884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3B4C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333756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313F"/>
                </a:solidFill>
              </a:rPr>
              <a:t>Discover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74320" y="374904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07080"/>
                </a:solidFill>
              </a:rPr>
              <a:t>SEO, campaigns,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07080"/>
                </a:solidFill>
              </a:rPr>
              <a:t>articles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828800" y="2487168"/>
            <a:ext cx="640080" cy="0"/>
          </a:xfrm>
          <a:prstGeom prst="line">
            <a:avLst/>
          </a:prstGeom>
          <a:noFill/>
          <a:ln w="25400">
            <a:solidFill>
              <a:srgbClr val="C9D6DC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468880" y="1828800"/>
            <a:ext cx="1325880" cy="1325880"/>
          </a:xfrm>
          <a:prstGeom prst="ellipse">
            <a:avLst/>
          </a:prstGeom>
          <a:solidFill>
            <a:srgbClr val="DFF6F4"/>
          </a:solidFill>
          <a:ln w="25400">
            <a:solidFill>
              <a:srgbClr val="00A6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16936" y="214884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3B4C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286000" y="333756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313F"/>
                </a:solidFill>
              </a:rPr>
              <a:t>Shortlist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240280" y="374904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07080"/>
                </a:solidFill>
              </a:rPr>
              <a:t>Resorts, offers,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07080"/>
                </a:solidFill>
              </a:rPr>
              <a:t>activities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794760" y="2487168"/>
            <a:ext cx="640080" cy="0"/>
          </a:xfrm>
          <a:prstGeom prst="line">
            <a:avLst/>
          </a:prstGeom>
          <a:noFill/>
          <a:ln w="25400">
            <a:solidFill>
              <a:srgbClr val="C9D6DC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434840" y="1828800"/>
            <a:ext cx="1325880" cy="1325880"/>
          </a:xfrm>
          <a:prstGeom prst="ellipse">
            <a:avLst/>
          </a:prstGeom>
          <a:solidFill>
            <a:srgbClr val="DFF6F4"/>
          </a:solidFill>
          <a:ln w="25400">
            <a:solidFill>
              <a:srgbClr val="00A6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82896" y="214884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3B4C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251960" y="333756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313F"/>
                </a:solidFill>
              </a:rPr>
              <a:t>Plan trip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206240" y="374904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07080"/>
                </a:solidFill>
              </a:rPr>
              <a:t>Dates, party,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07080"/>
                </a:solidFill>
              </a:rPr>
              <a:t>budget, interests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760720" y="2487168"/>
            <a:ext cx="640080" cy="0"/>
          </a:xfrm>
          <a:prstGeom prst="line">
            <a:avLst/>
          </a:prstGeom>
          <a:noFill/>
          <a:ln w="25400">
            <a:solidFill>
              <a:srgbClr val="C9D6DC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400800" y="1828800"/>
            <a:ext cx="1325880" cy="1325880"/>
          </a:xfrm>
          <a:prstGeom prst="ellipse">
            <a:avLst/>
          </a:prstGeom>
          <a:solidFill>
            <a:srgbClr val="FFF4E8"/>
          </a:solidFill>
          <a:ln w="25400">
            <a:solidFill>
              <a:srgbClr val="FF7A5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48856" y="214884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3B4C"/>
                </a:solidFill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217920" y="333756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313F"/>
                </a:solidFill>
              </a:rPr>
              <a:t>Consult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172200" y="374904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07080"/>
                </a:solidFill>
              </a:rPr>
              <a:t>Qualification and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07080"/>
                </a:solidFill>
              </a:rPr>
              <a:t>recommendation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726680" y="2487168"/>
            <a:ext cx="640080" cy="0"/>
          </a:xfrm>
          <a:prstGeom prst="line">
            <a:avLst/>
          </a:prstGeom>
          <a:noFill/>
          <a:ln w="25400">
            <a:solidFill>
              <a:srgbClr val="C9D6DC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366760" y="1828800"/>
            <a:ext cx="1325880" cy="1325880"/>
          </a:xfrm>
          <a:prstGeom prst="ellipse">
            <a:avLst/>
          </a:prstGeom>
          <a:solidFill>
            <a:srgbClr val="FFF4E8"/>
          </a:solidFill>
          <a:ln w="25400">
            <a:solidFill>
              <a:srgbClr val="FF7A5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14816" y="214884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3B4C"/>
                </a:solidFill>
              </a:rPr>
              <a:t>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183880" y="333756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313F"/>
                </a:solidFill>
              </a:rPr>
              <a:t>Approve quote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138160" y="374904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07080"/>
                </a:solidFill>
              </a:rPr>
              <a:t>Versioned itinerary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07080"/>
                </a:solidFill>
              </a:rPr>
              <a:t>and price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692640" y="2487168"/>
            <a:ext cx="640080" cy="0"/>
          </a:xfrm>
          <a:prstGeom prst="line">
            <a:avLst/>
          </a:prstGeom>
          <a:noFill/>
          <a:ln w="25400">
            <a:solidFill>
              <a:srgbClr val="C9D6DC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0332720" y="1828800"/>
            <a:ext cx="1325880" cy="1325880"/>
          </a:xfrm>
          <a:prstGeom prst="ellipse">
            <a:avLst/>
          </a:prstGeom>
          <a:solidFill>
            <a:srgbClr val="E9F6EE"/>
          </a:solidFill>
          <a:ln w="25400">
            <a:solidFill>
              <a:srgbClr val="2E8B5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780776" y="214884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3B4C"/>
                </a:solidFill>
              </a:rPr>
              <a:t>6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0149840" y="333756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313F"/>
                </a:solidFill>
              </a:rPr>
              <a:t>Confirm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0104120" y="374904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07080"/>
                </a:solidFill>
              </a:rPr>
              <a:t>Booking handoff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07080"/>
                </a:solidFill>
              </a:rPr>
              <a:t>(Phase 1)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60120" y="4983480"/>
            <a:ext cx="10241280" cy="685800"/>
          </a:xfrm>
          <a:prstGeom prst="roundRect">
            <a:avLst/>
          </a:prstGeom>
          <a:solidFill>
            <a:srgbClr val="103B4C"/>
          </a:solidFill>
          <a:ln w="12700">
            <a:solidFill>
              <a:srgbClr val="103B4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43000" y="519379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Cross-cutting: consent • attribution • saved preferences • notifications • audit trail • service-level reporting</a:t>
            </a:r>
            <a:endParaRPr lang="en-US" sz="14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909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3B4C"/>
                </a:solidFill>
              </a:rPr>
              <a:t>3. Primary system flow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07080"/>
                </a:solidFill>
              </a:rPr>
              <a:t>Operational flow from lead capture through quotation and closure.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18745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240">
            <a:solidFill>
              <a:srgbClr val="C9D6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417320"/>
            <a:ext cx="1655064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313F"/>
                </a:solidFill>
              </a:rPr>
              <a:t>Visitor submits trip plan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926080" y="1325880"/>
            <a:ext cx="18745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240">
            <a:solidFill>
              <a:srgbClr val="C9D6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35808" y="1417320"/>
            <a:ext cx="1655064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313F"/>
                </a:solidFill>
              </a:rPr>
              <a:t>Validate consent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2313F"/>
                </a:solidFill>
              </a:rPr>
              <a:t>and contact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03520" y="1325880"/>
            <a:ext cx="18745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240">
            <a:solidFill>
              <a:srgbClr val="C9D6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13248" y="1417320"/>
            <a:ext cx="1655064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313F"/>
                </a:solidFill>
              </a:rPr>
              <a:t>Create customer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2313F"/>
                </a:solidFill>
              </a:rPr>
              <a:t>+ enquiry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80960" y="1325880"/>
            <a:ext cx="18745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240">
            <a:solidFill>
              <a:srgbClr val="C9D6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90688" y="1417320"/>
            <a:ext cx="1655064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313F"/>
                </a:solidFill>
              </a:rPr>
              <a:t>Auto/manual consultant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2313F"/>
                </a:solidFill>
              </a:rPr>
              <a:t>assignment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012680" y="1325880"/>
            <a:ext cx="18745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240">
            <a:solidFill>
              <a:srgbClr val="C9D6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122408" y="1417320"/>
            <a:ext cx="1655064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313F"/>
                </a:solidFill>
              </a:rPr>
              <a:t>Qualify requirements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680960" y="3246120"/>
            <a:ext cx="18745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240">
            <a:solidFill>
              <a:srgbClr val="C9D6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90688" y="3337560"/>
            <a:ext cx="1655064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313F"/>
                </a:solidFill>
              </a:rPr>
              <a:t>Build itinerary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2313F"/>
                </a:solidFill>
              </a:rPr>
              <a:t>and quotation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0" y="3246120"/>
            <a:ext cx="18745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240">
            <a:solidFill>
              <a:srgbClr val="C9D6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13248" y="3337560"/>
            <a:ext cx="1655064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313F"/>
                </a:solidFill>
              </a:rPr>
              <a:t>Customer reviews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2313F"/>
                </a:solidFill>
              </a:rPr>
              <a:t>quote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926080" y="3246120"/>
            <a:ext cx="1874520" cy="749808"/>
          </a:xfrm>
          <a:prstGeom prst="roundRect">
            <a:avLst>
              <a:gd name="adj" fmla="val 9756"/>
            </a:avLst>
          </a:prstGeom>
          <a:solidFill>
            <a:srgbClr val="FFF4E8"/>
          </a:solidFill>
          <a:ln w="15240">
            <a:solidFill>
              <a:srgbClr val="FF7A5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35808" y="3337560"/>
            <a:ext cx="1655064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313F"/>
                </a:solidFill>
              </a:rPr>
              <a:t>Revise?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246120"/>
            <a:ext cx="18745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240">
            <a:solidFill>
              <a:srgbClr val="C9D6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3337560"/>
            <a:ext cx="1655064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313F"/>
                </a:solidFill>
              </a:rPr>
              <a:t>Close as confirmed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2313F"/>
                </a:solidFill>
              </a:rPr>
              <a:t>or lost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423160" y="1700784"/>
            <a:ext cx="502920" cy="0"/>
          </a:xfrm>
          <a:prstGeom prst="line">
            <a:avLst/>
          </a:prstGeom>
          <a:noFill/>
          <a:ln w="2540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800600" y="1700784"/>
            <a:ext cx="502920" cy="0"/>
          </a:xfrm>
          <a:prstGeom prst="line">
            <a:avLst/>
          </a:prstGeom>
          <a:noFill/>
          <a:ln w="2540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178040" y="1700784"/>
            <a:ext cx="502920" cy="0"/>
          </a:xfrm>
          <a:prstGeom prst="line">
            <a:avLst/>
          </a:prstGeom>
          <a:noFill/>
          <a:ln w="2540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555480" y="1700784"/>
            <a:ext cx="457200" cy="0"/>
          </a:xfrm>
          <a:prstGeom prst="line">
            <a:avLst/>
          </a:prstGeom>
          <a:noFill/>
          <a:ln w="2540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0954512" y="2075688"/>
            <a:ext cx="0" cy="1170432"/>
          </a:xfrm>
          <a:prstGeom prst="line">
            <a:avLst/>
          </a:prstGeom>
          <a:noFill/>
          <a:ln w="2540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680960" y="3621024"/>
            <a:ext cx="0" cy="0"/>
          </a:xfrm>
          <a:prstGeom prst="line">
            <a:avLst/>
          </a:prstGeom>
          <a:noFill/>
          <a:ln w="2540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303520" y="3621024"/>
            <a:ext cx="0" cy="0"/>
          </a:xfrm>
          <a:prstGeom prst="line">
            <a:avLst/>
          </a:prstGeom>
          <a:noFill/>
          <a:ln w="2540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2926080" y="3621024"/>
            <a:ext cx="0" cy="0"/>
          </a:xfrm>
          <a:prstGeom prst="line">
            <a:avLst/>
          </a:prstGeom>
          <a:noFill/>
          <a:ln w="2540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3867912" y="3995928"/>
            <a:ext cx="0" cy="804672"/>
          </a:xfrm>
          <a:prstGeom prst="line">
            <a:avLst/>
          </a:prstGeom>
          <a:noFill/>
          <a:ln w="25400">
            <a:solidFill>
              <a:srgbClr val="FF7A59"/>
            </a:solidFill>
            <a:prstDash val="solid"/>
            <a:headEnd type="none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4023360" y="422452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7A59"/>
                </a:solidFill>
              </a:rPr>
              <a:t>YES: new version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867912" y="4800600"/>
            <a:ext cx="4754880" cy="0"/>
          </a:xfrm>
          <a:prstGeom prst="line">
            <a:avLst/>
          </a:prstGeom>
          <a:noFill/>
          <a:ln w="25400">
            <a:solidFill>
              <a:srgbClr val="FF7A59"/>
            </a:solidFill>
            <a:prstDash val="solid"/>
            <a:headEnd type="none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2240280" y="33101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8B57"/>
                </a:solidFill>
              </a:rPr>
              <a:t>NO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080" y="5074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3B4C"/>
                </a:solidFill>
              </a:rPr>
              <a:t>Key controls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874520" y="502920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07080"/>
                </a:solidFill>
              </a:rPr>
              <a:t>Duplicate detection • assignment history • quote versioning • status reason • communication log • timestamps</a:t>
            </a:r>
            <a:endParaRPr lang="en-US" sz="13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909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3B4C"/>
                </a:solidFill>
              </a:rPr>
              <a:t>4. Logical solution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07080"/>
                </a:solidFill>
              </a:rPr>
              <a:t>Separation of experience, business services, data and external integrations.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11480" y="128016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07080"/>
                </a:solidFill>
              </a:rPr>
              <a:t>EXPERIENCE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874520" y="1143000"/>
            <a:ext cx="2057400" cy="658368"/>
          </a:xfrm>
          <a:prstGeom prst="roundRect">
            <a:avLst>
              <a:gd name="adj" fmla="val 11111"/>
            </a:avLst>
          </a:prstGeom>
          <a:solidFill>
            <a:srgbClr val="DFF6F4"/>
          </a:solidFill>
          <a:ln w="15240">
            <a:solidFill>
              <a:srgbClr val="00A6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84248" y="1234440"/>
            <a:ext cx="1837944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313F"/>
                </a:solidFill>
              </a:rPr>
              <a:t>Public Web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096512" y="1143000"/>
            <a:ext cx="2057400" cy="658368"/>
          </a:xfrm>
          <a:prstGeom prst="roundRect">
            <a:avLst>
              <a:gd name="adj" fmla="val 11111"/>
            </a:avLst>
          </a:prstGeom>
          <a:solidFill>
            <a:srgbClr val="DFF6F4"/>
          </a:solidFill>
          <a:ln w="15240">
            <a:solidFill>
              <a:srgbClr val="00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0" y="1234440"/>
            <a:ext cx="1837944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313F"/>
                </a:solidFill>
              </a:rPr>
              <a:t>Customer Account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18504" y="1143000"/>
            <a:ext cx="2057400" cy="658368"/>
          </a:xfrm>
          <a:prstGeom prst="roundRect">
            <a:avLst>
              <a:gd name="adj" fmla="val 11111"/>
            </a:avLst>
          </a:prstGeom>
          <a:solidFill>
            <a:srgbClr val="DFF6F4"/>
          </a:solidFill>
          <a:ln w="15240">
            <a:solidFill>
              <a:srgbClr val="00A6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28232" y="1234440"/>
            <a:ext cx="1837944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313F"/>
                </a:solidFill>
              </a:rPr>
              <a:t>Consultant Portal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40496" y="1143000"/>
            <a:ext cx="2057400" cy="658368"/>
          </a:xfrm>
          <a:prstGeom prst="roundRect">
            <a:avLst>
              <a:gd name="adj" fmla="val 11111"/>
            </a:avLst>
          </a:prstGeom>
          <a:solidFill>
            <a:srgbClr val="DFF6F4"/>
          </a:solidFill>
          <a:ln w="15240">
            <a:solidFill>
              <a:srgbClr val="00A6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50224" y="1234440"/>
            <a:ext cx="1837944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313F"/>
                </a:solidFill>
              </a:rPr>
              <a:t>Admin CMS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801368"/>
            <a:ext cx="0" cy="438912"/>
          </a:xfrm>
          <a:prstGeom prst="line">
            <a:avLst/>
          </a:prstGeom>
          <a:noFill/>
          <a:ln w="25400">
            <a:solidFill>
              <a:srgbClr val="C9D6DC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411480" y="237744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07080"/>
                </a:solidFill>
              </a:rPr>
              <a:t>APPLICATION SERVICES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874520" y="2240280"/>
            <a:ext cx="1828800" cy="658368"/>
          </a:xfrm>
          <a:prstGeom prst="roundRect">
            <a:avLst>
              <a:gd name="adj" fmla="val 11111"/>
            </a:avLst>
          </a:prstGeom>
          <a:solidFill>
            <a:srgbClr val="FFF4E8"/>
          </a:solidFill>
          <a:ln w="15240">
            <a:solidFill>
              <a:srgbClr val="FF7A5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84248" y="2331720"/>
            <a:ext cx="1609344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313F"/>
                </a:solidFill>
              </a:rPr>
              <a:t>Identity &amp; RBAC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867912" y="2240280"/>
            <a:ext cx="1828800" cy="658368"/>
          </a:xfrm>
          <a:prstGeom prst="roundRect">
            <a:avLst>
              <a:gd name="adj" fmla="val 11111"/>
            </a:avLst>
          </a:prstGeom>
          <a:solidFill>
            <a:srgbClr val="FFF4E8"/>
          </a:solidFill>
          <a:ln w="15240">
            <a:solidFill>
              <a:srgbClr val="FF7A5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77640" y="2331720"/>
            <a:ext cx="1609344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313F"/>
                </a:solidFill>
              </a:rPr>
              <a:t>Catalog &amp; Search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861304" y="2240280"/>
            <a:ext cx="1828800" cy="658368"/>
          </a:xfrm>
          <a:prstGeom prst="roundRect">
            <a:avLst>
              <a:gd name="adj" fmla="val 11111"/>
            </a:avLst>
          </a:prstGeom>
          <a:solidFill>
            <a:srgbClr val="FFF4E8"/>
          </a:solidFill>
          <a:ln w="15240">
            <a:solidFill>
              <a:srgbClr val="FF7A5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71032" y="2331720"/>
            <a:ext cx="1609344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313F"/>
                </a:solidFill>
              </a:rPr>
              <a:t>Enquiry CRM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854696" y="2240280"/>
            <a:ext cx="1828800" cy="658368"/>
          </a:xfrm>
          <a:prstGeom prst="roundRect">
            <a:avLst>
              <a:gd name="adj" fmla="val 11111"/>
            </a:avLst>
          </a:prstGeom>
          <a:solidFill>
            <a:srgbClr val="FFF4E8"/>
          </a:solidFill>
          <a:ln w="15240">
            <a:solidFill>
              <a:srgbClr val="FF7A5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64424" y="2331720"/>
            <a:ext cx="1609344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313F"/>
                </a:solidFill>
              </a:rPr>
              <a:t>Quote Engine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848088" y="2240280"/>
            <a:ext cx="1828800" cy="658368"/>
          </a:xfrm>
          <a:prstGeom prst="roundRect">
            <a:avLst>
              <a:gd name="adj" fmla="val 11111"/>
            </a:avLst>
          </a:prstGeom>
          <a:solidFill>
            <a:srgbClr val="FFF4E8"/>
          </a:solidFill>
          <a:ln w="15240">
            <a:solidFill>
              <a:srgbClr val="FF7A5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57816" y="2331720"/>
            <a:ext cx="1609344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313F"/>
                </a:solidFill>
              </a:rPr>
              <a:t>Content Service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26480" y="2898648"/>
            <a:ext cx="0" cy="530352"/>
          </a:xfrm>
          <a:prstGeom prst="line">
            <a:avLst/>
          </a:prstGeom>
          <a:noFill/>
          <a:ln w="25400">
            <a:solidFill>
              <a:srgbClr val="C9D6DC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411480" y="356616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07080"/>
                </a:solidFill>
              </a:rPr>
              <a:t>DATA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874520" y="3429000"/>
            <a:ext cx="1828800" cy="658368"/>
          </a:xfrm>
          <a:prstGeom prst="roundRect">
            <a:avLst>
              <a:gd name="adj" fmla="val 11111"/>
            </a:avLst>
          </a:prstGeom>
          <a:solidFill>
            <a:srgbClr val="EEF4F6"/>
          </a:solidFill>
          <a:ln w="15240">
            <a:solidFill>
              <a:srgbClr val="C9D6D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84248" y="3520440"/>
            <a:ext cx="1609344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313F"/>
                </a:solidFill>
              </a:rPr>
              <a:t>PostgreSQL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867912" y="3429000"/>
            <a:ext cx="1828800" cy="658368"/>
          </a:xfrm>
          <a:prstGeom prst="roundRect">
            <a:avLst>
              <a:gd name="adj" fmla="val 11111"/>
            </a:avLst>
          </a:prstGeom>
          <a:solidFill>
            <a:srgbClr val="EEF4F6"/>
          </a:solidFill>
          <a:ln w="15240">
            <a:solidFill>
              <a:srgbClr val="C9D6D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77640" y="3520440"/>
            <a:ext cx="1609344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313F"/>
                </a:solidFill>
              </a:rPr>
              <a:t>Object Storage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861304" y="3429000"/>
            <a:ext cx="1828800" cy="658368"/>
          </a:xfrm>
          <a:prstGeom prst="roundRect">
            <a:avLst>
              <a:gd name="adj" fmla="val 11111"/>
            </a:avLst>
          </a:prstGeom>
          <a:solidFill>
            <a:srgbClr val="EEF4F6"/>
          </a:solidFill>
          <a:ln w="15240">
            <a:solidFill>
              <a:srgbClr val="C9D6D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71032" y="3520440"/>
            <a:ext cx="1609344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313F"/>
                </a:solidFill>
              </a:rPr>
              <a:t>Search Index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854696" y="3429000"/>
            <a:ext cx="1828800" cy="658368"/>
          </a:xfrm>
          <a:prstGeom prst="roundRect">
            <a:avLst>
              <a:gd name="adj" fmla="val 11111"/>
            </a:avLst>
          </a:prstGeom>
          <a:solidFill>
            <a:srgbClr val="EEF4F6"/>
          </a:solidFill>
          <a:ln w="15240">
            <a:solidFill>
              <a:srgbClr val="C9D6D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64424" y="3520440"/>
            <a:ext cx="1609344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313F"/>
                </a:solidFill>
              </a:rPr>
              <a:t>Cache / Queue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848088" y="3429000"/>
            <a:ext cx="1828800" cy="658368"/>
          </a:xfrm>
          <a:prstGeom prst="roundRect">
            <a:avLst>
              <a:gd name="adj" fmla="val 11111"/>
            </a:avLst>
          </a:prstGeom>
          <a:solidFill>
            <a:srgbClr val="EEF4F6"/>
          </a:solidFill>
          <a:ln w="15240">
            <a:solidFill>
              <a:srgbClr val="C9D6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957816" y="3520440"/>
            <a:ext cx="1609344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313F"/>
                </a:solidFill>
              </a:rPr>
              <a:t>Audit Log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126480" y="4087368"/>
            <a:ext cx="0" cy="530352"/>
          </a:xfrm>
          <a:prstGeom prst="line">
            <a:avLst/>
          </a:prstGeom>
          <a:noFill/>
          <a:ln w="25400">
            <a:solidFill>
              <a:srgbClr val="C9D6DC"/>
            </a:solidFill>
            <a:prstDash val="solid"/>
            <a:headEnd type="none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411480" y="475488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07080"/>
                </a:solidFill>
              </a:rPr>
              <a:t>INTEGRATIONS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874520" y="4617720"/>
            <a:ext cx="1828800" cy="658368"/>
          </a:xfrm>
          <a:prstGeom prst="roundRect">
            <a:avLst>
              <a:gd name="adj" fmla="val 11111"/>
            </a:avLst>
          </a:prstGeom>
          <a:solidFill>
            <a:srgbClr val="F4EEFF"/>
          </a:solidFill>
          <a:ln w="15240">
            <a:solidFill>
              <a:srgbClr val="8C6BC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84248" y="4709160"/>
            <a:ext cx="1609344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313F"/>
                </a:solidFill>
              </a:rPr>
              <a:t>Email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867912" y="4617720"/>
            <a:ext cx="1828800" cy="658368"/>
          </a:xfrm>
          <a:prstGeom prst="roundRect">
            <a:avLst>
              <a:gd name="adj" fmla="val 11111"/>
            </a:avLst>
          </a:prstGeom>
          <a:solidFill>
            <a:srgbClr val="F4EEFF"/>
          </a:solidFill>
          <a:ln w="15240">
            <a:solidFill>
              <a:srgbClr val="8C6BC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977640" y="4709160"/>
            <a:ext cx="1609344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313F"/>
                </a:solidFill>
              </a:rPr>
              <a:t>Maps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861304" y="4617720"/>
            <a:ext cx="1828800" cy="658368"/>
          </a:xfrm>
          <a:prstGeom prst="roundRect">
            <a:avLst>
              <a:gd name="adj" fmla="val 11111"/>
            </a:avLst>
          </a:prstGeom>
          <a:solidFill>
            <a:srgbClr val="F4EEFF"/>
          </a:solidFill>
          <a:ln w="15240">
            <a:solidFill>
              <a:srgbClr val="8C6BC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71032" y="4709160"/>
            <a:ext cx="1609344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313F"/>
                </a:solidFill>
              </a:rPr>
              <a:t>Analytics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7854696" y="4617720"/>
            <a:ext cx="1828800" cy="658368"/>
          </a:xfrm>
          <a:prstGeom prst="roundRect">
            <a:avLst>
              <a:gd name="adj" fmla="val 11111"/>
            </a:avLst>
          </a:prstGeom>
          <a:solidFill>
            <a:srgbClr val="F4EEFF"/>
          </a:solidFill>
          <a:ln w="15240">
            <a:solidFill>
              <a:srgbClr val="8C6BC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964424" y="4709160"/>
            <a:ext cx="1609344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313F"/>
                </a:solidFill>
              </a:rPr>
              <a:t>Partner Feeds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9848088" y="4617720"/>
            <a:ext cx="1828800" cy="658368"/>
          </a:xfrm>
          <a:prstGeom prst="roundRect">
            <a:avLst>
              <a:gd name="adj" fmla="val 11111"/>
            </a:avLst>
          </a:prstGeom>
          <a:solidFill>
            <a:srgbClr val="F4EEFF"/>
          </a:solidFill>
          <a:ln w="15240">
            <a:solidFill>
              <a:srgbClr val="8C6BC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957816" y="4709160"/>
            <a:ext cx="1609344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313F"/>
                </a:solidFill>
              </a:rPr>
              <a:t>Payments (P2)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737360" y="562356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07080"/>
                </a:solidFill>
              </a:rPr>
              <a:t>Suggested implementation: responsive web + API layer + relational database + object storage + CDN. Final products and vendors remain architecture decisions.</a:t>
            </a:r>
            <a:endParaRPr lang="en-US" sz="1250" dirty="0"/>
          </a:p>
        </p:txBody>
      </p:sp>
      <p:sp>
        <p:nvSpPr>
          <p:cNvPr id="5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909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3B4C"/>
                </a:solidFill>
              </a:rPr>
              <a:t>5. Core ERD: catalog and content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07080"/>
                </a:solidFill>
              </a:rPr>
              <a:t>Developer view of the core tourism catalog. PK/FK details should be finalized in the data dictionary.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1965960" cy="15544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A6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34440"/>
            <a:ext cx="1965960" cy="329184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298448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ATOLL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" y="1673352"/>
            <a:ext cx="1737360" cy="9601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22313F"/>
                </a:solidFill>
              </a:rPr>
              <a:t>id PK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22313F"/>
                </a:solidFill>
              </a:rPr>
              <a:t>name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22313F"/>
                </a:solidFill>
              </a:rPr>
              <a:t>slug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2606040" y="1234440"/>
            <a:ext cx="1965960" cy="15544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A6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06040" y="1234440"/>
            <a:ext cx="1965960" cy="329184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79192" y="1298448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ISLAND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15768" y="1673352"/>
            <a:ext cx="1737360" cy="9601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22313F"/>
                </a:solidFill>
              </a:rPr>
              <a:t>id PK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22313F"/>
                </a:solidFill>
              </a:rPr>
              <a:t>atoll_id FK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22313F"/>
                </a:solidFill>
              </a:rPr>
              <a:t>name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22313F"/>
                </a:solidFill>
              </a:rPr>
              <a:t>coordinates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4846320" y="1234440"/>
            <a:ext cx="1965960" cy="15544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A6A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0" y="1234440"/>
            <a:ext cx="1965960" cy="329184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1298448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RESORT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56048" y="1673352"/>
            <a:ext cx="1737360" cy="9601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22313F"/>
                </a:solidFill>
              </a:rPr>
              <a:t>id PK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22313F"/>
                </a:solidFill>
              </a:rPr>
              <a:t>island_id FK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22313F"/>
                </a:solidFill>
              </a:rPr>
              <a:t>name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22313F"/>
                </a:solidFill>
              </a:rPr>
              <a:t>status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22313F"/>
                </a:solidFill>
              </a:rPr>
              <a:t>rating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7086600" y="1234440"/>
            <a:ext cx="1965960" cy="15544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A6A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86600" y="1234440"/>
            <a:ext cx="1965960" cy="329184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59752" y="1298448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ROOM_TYPE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96328" y="1673352"/>
            <a:ext cx="1737360" cy="9601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22313F"/>
                </a:solidFill>
              </a:rPr>
              <a:t>id PK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22313F"/>
                </a:solidFill>
              </a:rPr>
              <a:t>resort_id FK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22313F"/>
                </a:solidFill>
              </a:rPr>
              <a:t>name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22313F"/>
                </a:solidFill>
              </a:rPr>
              <a:t>capacity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9326880" y="1234440"/>
            <a:ext cx="1965960" cy="15544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A6A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26880" y="1234440"/>
            <a:ext cx="1965960" cy="329184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00032" y="1298448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OFFER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436608" y="1673352"/>
            <a:ext cx="1737360" cy="9601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22313F"/>
                </a:solidFill>
              </a:rPr>
              <a:t>id PK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22313F"/>
                </a:solidFill>
              </a:rPr>
              <a:t>resort_id FK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22313F"/>
                </a:solidFill>
              </a:rPr>
              <a:t>room_type_id FK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22313F"/>
                </a:solidFill>
              </a:rPr>
              <a:t>valid_from/to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22313F"/>
                </a:solidFill>
              </a:rPr>
              <a:t>price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365760" y="3794760"/>
            <a:ext cx="1965960" cy="15544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8C6B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794760"/>
            <a:ext cx="1965960" cy="329184"/>
          </a:xfrm>
          <a:prstGeom prst="rect">
            <a:avLst/>
          </a:prstGeom>
          <a:solidFill>
            <a:srgbClr val="8C6BC5"/>
          </a:solidFill>
          <a:ln w="12700">
            <a:solidFill>
              <a:srgbClr val="8C6BC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3858768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AMENITY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5488" y="4233672"/>
            <a:ext cx="1737360" cy="9601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22313F"/>
                </a:solidFill>
              </a:rPr>
              <a:t>id PK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22313F"/>
                </a:solidFill>
              </a:rPr>
              <a:t>name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22313F"/>
                </a:solidFill>
              </a:rPr>
              <a:t>category</a:t>
            </a:r>
            <a:endParaRPr lang="en-US" sz="1030" dirty="0"/>
          </a:p>
        </p:txBody>
      </p:sp>
      <p:sp>
        <p:nvSpPr>
          <p:cNvPr id="28" name="Shape 26"/>
          <p:cNvSpPr/>
          <p:nvPr/>
        </p:nvSpPr>
        <p:spPr>
          <a:xfrm>
            <a:off x="2606040" y="3794760"/>
            <a:ext cx="1965960" cy="15544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8C6BC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606040" y="3794760"/>
            <a:ext cx="1965960" cy="329184"/>
          </a:xfrm>
          <a:prstGeom prst="rect">
            <a:avLst/>
          </a:prstGeom>
          <a:solidFill>
            <a:srgbClr val="8C6BC5"/>
          </a:solidFill>
          <a:ln w="12700">
            <a:solidFill>
              <a:srgbClr val="8C6BC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79192" y="3858768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RESORT_AMENITY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715768" y="4233672"/>
            <a:ext cx="1737360" cy="9601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22313F"/>
                </a:solidFill>
              </a:rPr>
              <a:t>resort_id FK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22313F"/>
                </a:solidFill>
              </a:rPr>
              <a:t>amenity_id FK</a:t>
            </a:r>
            <a:endParaRPr lang="en-US" sz="1030" dirty="0"/>
          </a:p>
        </p:txBody>
      </p:sp>
      <p:sp>
        <p:nvSpPr>
          <p:cNvPr id="32" name="Shape 30"/>
          <p:cNvSpPr/>
          <p:nvPr/>
        </p:nvSpPr>
        <p:spPr>
          <a:xfrm>
            <a:off x="4846320" y="3794760"/>
            <a:ext cx="1965960" cy="15544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8C6BC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46320" y="3794760"/>
            <a:ext cx="1965960" cy="329184"/>
          </a:xfrm>
          <a:prstGeom prst="rect">
            <a:avLst/>
          </a:prstGeom>
          <a:solidFill>
            <a:srgbClr val="8C6BC5"/>
          </a:solidFill>
          <a:ln w="12700">
            <a:solidFill>
              <a:srgbClr val="8C6BC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9472" y="3858768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ARTICLE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956048" y="4233672"/>
            <a:ext cx="1737360" cy="9601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22313F"/>
                </a:solidFill>
              </a:rPr>
              <a:t>id PK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22313F"/>
                </a:solidFill>
              </a:rPr>
              <a:t>category_id FK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22313F"/>
                </a:solidFill>
              </a:rPr>
              <a:t>title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22313F"/>
                </a:solidFill>
              </a:rPr>
              <a:t>status</a:t>
            </a:r>
            <a:endParaRPr lang="en-US" sz="1030" dirty="0"/>
          </a:p>
        </p:txBody>
      </p:sp>
      <p:sp>
        <p:nvSpPr>
          <p:cNvPr id="36" name="Shape 34"/>
          <p:cNvSpPr/>
          <p:nvPr/>
        </p:nvSpPr>
        <p:spPr>
          <a:xfrm>
            <a:off x="7086600" y="3794760"/>
            <a:ext cx="1965960" cy="15544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8C6BC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086600" y="3794760"/>
            <a:ext cx="1965960" cy="329184"/>
          </a:xfrm>
          <a:prstGeom prst="rect">
            <a:avLst/>
          </a:prstGeom>
          <a:solidFill>
            <a:srgbClr val="8C6BC5"/>
          </a:solidFill>
          <a:ln w="12700">
            <a:solidFill>
              <a:srgbClr val="8C6BC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59752" y="3858768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ACTIVITY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196328" y="4233672"/>
            <a:ext cx="1737360" cy="9601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22313F"/>
                </a:solidFill>
              </a:rPr>
              <a:t>id PK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22313F"/>
                </a:solidFill>
              </a:rPr>
              <a:t>name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22313F"/>
                </a:solidFill>
              </a:rPr>
              <a:t>category</a:t>
            </a:r>
            <a:endParaRPr lang="en-US" sz="1030" dirty="0"/>
          </a:p>
        </p:txBody>
      </p:sp>
      <p:sp>
        <p:nvSpPr>
          <p:cNvPr id="40" name="Shape 38"/>
          <p:cNvSpPr/>
          <p:nvPr/>
        </p:nvSpPr>
        <p:spPr>
          <a:xfrm>
            <a:off x="9326880" y="3794760"/>
            <a:ext cx="1965960" cy="15544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8C6BC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326880" y="3794760"/>
            <a:ext cx="1965960" cy="329184"/>
          </a:xfrm>
          <a:prstGeom prst="rect">
            <a:avLst/>
          </a:prstGeom>
          <a:solidFill>
            <a:srgbClr val="8C6BC5"/>
          </a:solidFill>
          <a:ln w="12700">
            <a:solidFill>
              <a:srgbClr val="8C6BC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400032" y="3858768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RESORT_ACTIVITY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436608" y="4233672"/>
            <a:ext cx="1737360" cy="9601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22313F"/>
                </a:solidFill>
              </a:rPr>
              <a:t>resort_id FK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22313F"/>
                </a:solidFill>
              </a:rPr>
              <a:t>activity_id FK</a:t>
            </a:r>
            <a:endParaRPr lang="en-US" sz="1030" dirty="0"/>
          </a:p>
        </p:txBody>
      </p:sp>
      <p:sp>
        <p:nvSpPr>
          <p:cNvPr id="44" name="Shape 42"/>
          <p:cNvSpPr/>
          <p:nvPr/>
        </p:nvSpPr>
        <p:spPr>
          <a:xfrm>
            <a:off x="2331720" y="2011680"/>
            <a:ext cx="274320" cy="0"/>
          </a:xfrm>
          <a:prstGeom prst="line">
            <a:avLst/>
          </a:prstGeom>
          <a:noFill/>
          <a:ln w="25400">
            <a:solidFill>
              <a:srgbClr val="C9D6DC"/>
            </a:solidFill>
            <a:prstDash val="solid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4572000" y="2011680"/>
            <a:ext cx="274320" cy="0"/>
          </a:xfrm>
          <a:prstGeom prst="line">
            <a:avLst/>
          </a:prstGeom>
          <a:noFill/>
          <a:ln w="25400">
            <a:solidFill>
              <a:srgbClr val="C9D6DC"/>
            </a:solidFill>
            <a:prstDash val="solid"/>
            <a:headEnd type="none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6812280" y="2011680"/>
            <a:ext cx="274320" cy="0"/>
          </a:xfrm>
          <a:prstGeom prst="line">
            <a:avLst/>
          </a:prstGeom>
          <a:noFill/>
          <a:ln w="25400">
            <a:solidFill>
              <a:srgbClr val="C9D6DC"/>
            </a:solidFill>
            <a:prstDash val="solid"/>
            <a:headEnd type="none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9052560" y="2011680"/>
            <a:ext cx="274320" cy="0"/>
          </a:xfrm>
          <a:prstGeom prst="line">
            <a:avLst/>
          </a:prstGeom>
          <a:noFill/>
          <a:ln w="25400">
            <a:solidFill>
              <a:srgbClr val="C9D6DC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1371600" y="3794760"/>
            <a:ext cx="4023360" cy="0"/>
          </a:xfrm>
          <a:prstGeom prst="line">
            <a:avLst/>
          </a:prstGeom>
          <a:noFill/>
          <a:ln w="25400">
            <a:solidFill>
              <a:srgbClr val="C9D6DC"/>
            </a:solidFill>
            <a:prstDash val="solid"/>
            <a:headEnd type="none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3566160" y="3794760"/>
            <a:ext cx="2194560" cy="0"/>
          </a:xfrm>
          <a:prstGeom prst="line">
            <a:avLst/>
          </a:prstGeom>
          <a:noFill/>
          <a:ln w="25400">
            <a:solidFill>
              <a:srgbClr val="C9D6DC"/>
            </a:solidFill>
            <a:prstDash val="solid"/>
            <a:headEnd type="none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8046720" y="3794760"/>
            <a:ext cx="0" cy="0"/>
          </a:xfrm>
          <a:prstGeom prst="line">
            <a:avLst/>
          </a:prstGeom>
          <a:noFill/>
          <a:ln w="25400">
            <a:solidFill>
              <a:srgbClr val="C9D6DC"/>
            </a:solidFill>
            <a:prstDash val="solid"/>
            <a:headEnd type="none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10287000" y="3794760"/>
            <a:ext cx="0" cy="0"/>
          </a:xfrm>
          <a:prstGeom prst="line">
            <a:avLst/>
          </a:prstGeom>
          <a:noFill/>
          <a:ln w="25400">
            <a:solidFill>
              <a:srgbClr val="C9D6DC"/>
            </a:solidFill>
            <a:prstDash val="solid"/>
            <a:headEnd type="none"/>
            <a:tailEnd type="triangle"/>
          </a:ln>
        </p:spPr>
      </p:sp>
      <p:sp>
        <p:nvSpPr>
          <p:cNvPr id="5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909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3B4C"/>
                </a:solidFill>
              </a:rPr>
              <a:t>6. Core ERD: customer, enquiry and quotation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07080"/>
                </a:solidFill>
              </a:rPr>
              <a:t>Commercial records are versioned and auditable; one enquiry can produce multiple quotation versions.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1965960" cy="15087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F7A5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34440"/>
            <a:ext cx="1965960" cy="329184"/>
          </a:xfrm>
          <a:prstGeom prst="rect">
            <a:avLst/>
          </a:prstGeom>
          <a:solidFill>
            <a:srgbClr val="FF7A59"/>
          </a:solidFill>
          <a:ln w="12700">
            <a:solidFill>
              <a:srgbClr val="FF7A5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9844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USER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75488" y="1673352"/>
            <a:ext cx="1737360" cy="9144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22313F"/>
                </a:solidFill>
              </a:rPr>
              <a:t>id PK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22313F"/>
                </a:solidFill>
              </a:rPr>
              <a:t>role_id FK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22313F"/>
                </a:solidFill>
              </a:rPr>
              <a:t>email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22313F"/>
                </a:solidFill>
              </a:rPr>
              <a:t>status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2606040" y="1234440"/>
            <a:ext cx="1965960" cy="15087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F7A5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06040" y="1234440"/>
            <a:ext cx="1965960" cy="329184"/>
          </a:xfrm>
          <a:prstGeom prst="rect">
            <a:avLst/>
          </a:prstGeom>
          <a:solidFill>
            <a:srgbClr val="FF7A59"/>
          </a:solidFill>
          <a:ln w="12700">
            <a:solidFill>
              <a:srgbClr val="FF7A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51760" y="129844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CUSTOMER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715768" y="1673352"/>
            <a:ext cx="1737360" cy="9144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22313F"/>
                </a:solidFill>
              </a:rPr>
              <a:t>id PK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22313F"/>
                </a:solidFill>
              </a:rPr>
              <a:t>user_id FK?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22313F"/>
                </a:solidFill>
              </a:rPr>
              <a:t>name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22313F"/>
                </a:solidFill>
              </a:rPr>
              <a:t>contact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4846320" y="1234440"/>
            <a:ext cx="1965960" cy="15087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F7A5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0" y="1234440"/>
            <a:ext cx="1965960" cy="329184"/>
          </a:xfrm>
          <a:prstGeom prst="rect">
            <a:avLst/>
          </a:prstGeom>
          <a:solidFill>
            <a:srgbClr val="FF7A59"/>
          </a:solidFill>
          <a:ln w="12700">
            <a:solidFill>
              <a:srgbClr val="FF7A5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29844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ENQUIRY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956048" y="1673352"/>
            <a:ext cx="1737360" cy="9144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22313F"/>
                </a:solidFill>
              </a:rPr>
              <a:t>id PK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22313F"/>
                </a:solidFill>
              </a:rPr>
              <a:t>customer_id FK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22313F"/>
                </a:solidFill>
              </a:rPr>
              <a:t>assigned_to FK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22313F"/>
                </a:solidFill>
              </a:rPr>
              <a:t>status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22313F"/>
                </a:solidFill>
              </a:rPr>
              <a:t>travel dates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7086600" y="1234440"/>
            <a:ext cx="1965960" cy="15087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F7A5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86600" y="1234440"/>
            <a:ext cx="1965960" cy="329184"/>
          </a:xfrm>
          <a:prstGeom prst="rect">
            <a:avLst/>
          </a:prstGeom>
          <a:solidFill>
            <a:srgbClr val="FF7A59"/>
          </a:solidFill>
          <a:ln w="12700">
            <a:solidFill>
              <a:srgbClr val="FF7A5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0" y="129844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TRAVELER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196328" y="1673352"/>
            <a:ext cx="1737360" cy="9144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22313F"/>
                </a:solidFill>
              </a:rPr>
              <a:t>id PK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22313F"/>
                </a:solidFill>
              </a:rPr>
              <a:t>enquiry_id FK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22313F"/>
                </a:solidFill>
              </a:rPr>
              <a:t>type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22313F"/>
                </a:solidFill>
              </a:rPr>
              <a:t>age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9326880" y="1234440"/>
            <a:ext cx="1965960" cy="15087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F7A5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26880" y="1234440"/>
            <a:ext cx="1965960" cy="329184"/>
          </a:xfrm>
          <a:prstGeom prst="rect">
            <a:avLst/>
          </a:prstGeom>
          <a:solidFill>
            <a:srgbClr val="FF7A59"/>
          </a:solidFill>
          <a:ln w="12700">
            <a:solidFill>
              <a:srgbClr val="FF7A5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72600" y="129844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PREFERENCE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436608" y="1673352"/>
            <a:ext cx="1737360" cy="9144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22313F"/>
                </a:solidFill>
              </a:rPr>
              <a:t>id PK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22313F"/>
                </a:solidFill>
              </a:rPr>
              <a:t>enquiry_id FK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22313F"/>
                </a:solidFill>
              </a:rPr>
              <a:t>budget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22313F"/>
                </a:solidFill>
              </a:rPr>
              <a:t>interests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4846320" y="3794760"/>
            <a:ext cx="1965960" cy="15087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A6A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3794760"/>
            <a:ext cx="1965960" cy="329184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385876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QUOTE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956048" y="4233672"/>
            <a:ext cx="1737360" cy="9144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22313F"/>
                </a:solidFill>
              </a:rPr>
              <a:t>id PK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22313F"/>
                </a:solidFill>
              </a:rPr>
              <a:t>enquiry_id FK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22313F"/>
                </a:solidFill>
              </a:rPr>
              <a:t>version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22313F"/>
                </a:solidFill>
              </a:rPr>
              <a:t>status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22313F"/>
                </a:solidFill>
              </a:rPr>
              <a:t>total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7086600" y="3794760"/>
            <a:ext cx="1965960" cy="15087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A6A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86600" y="3794760"/>
            <a:ext cx="1965960" cy="329184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0" y="385876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QUOTE_ITEM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196328" y="4233672"/>
            <a:ext cx="1737360" cy="9144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22313F"/>
                </a:solidFill>
              </a:rPr>
              <a:t>id PK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22313F"/>
                </a:solidFill>
              </a:rPr>
              <a:t>quote_id FK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22313F"/>
                </a:solidFill>
              </a:rPr>
              <a:t>type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22313F"/>
                </a:solidFill>
              </a:rPr>
              <a:t>description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22313F"/>
                </a:solidFill>
              </a:rPr>
              <a:t>amount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365760" y="3794760"/>
            <a:ext cx="1965960" cy="15087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A6A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" y="3794760"/>
            <a:ext cx="1965960" cy="329184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385876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COMM_LOG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75488" y="4233672"/>
            <a:ext cx="1737360" cy="9144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22313F"/>
                </a:solidFill>
              </a:rPr>
              <a:t>id PK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22313F"/>
                </a:solidFill>
              </a:rPr>
              <a:t>enquiry_id FK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22313F"/>
                </a:solidFill>
              </a:rPr>
              <a:t>channel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22313F"/>
                </a:solidFill>
              </a:rPr>
              <a:t>summary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2606040" y="3794760"/>
            <a:ext cx="1965960" cy="15087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A6A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606040" y="3794760"/>
            <a:ext cx="1965960" cy="329184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385876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STATUS_HISTORY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2715768" y="4233672"/>
            <a:ext cx="1737360" cy="9144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22313F"/>
                </a:solidFill>
              </a:rPr>
              <a:t>id PK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22313F"/>
                </a:solidFill>
              </a:rPr>
              <a:t>enquiry_id FK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22313F"/>
                </a:solidFill>
              </a:rPr>
              <a:t>from/to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22313F"/>
                </a:solidFill>
              </a:rPr>
              <a:t>changed_by</a:t>
            </a:r>
            <a:endParaRPr lang="en-US" sz="980" dirty="0"/>
          </a:p>
        </p:txBody>
      </p:sp>
      <p:sp>
        <p:nvSpPr>
          <p:cNvPr id="40" name="Shape 38"/>
          <p:cNvSpPr/>
          <p:nvPr/>
        </p:nvSpPr>
        <p:spPr>
          <a:xfrm>
            <a:off x="9326880" y="3794760"/>
            <a:ext cx="1965960" cy="15087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A6A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326880" y="3794760"/>
            <a:ext cx="1965960" cy="329184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372600" y="385876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PAYMENT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9436608" y="4233672"/>
            <a:ext cx="1737360" cy="9144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22313F"/>
                </a:solidFill>
              </a:rPr>
              <a:t>id PK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22313F"/>
                </a:solidFill>
              </a:rPr>
              <a:t>quote_id FK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22313F"/>
                </a:solidFill>
              </a:rPr>
              <a:t>amount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22313F"/>
                </a:solidFill>
              </a:rPr>
              <a:t>status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22313F"/>
                </a:solidFill>
              </a:rPr>
              <a:t>P2</a:t>
            </a:r>
            <a:endParaRPr lang="en-US" sz="980" dirty="0"/>
          </a:p>
        </p:txBody>
      </p:sp>
      <p:sp>
        <p:nvSpPr>
          <p:cNvPr id="44" name="Shape 42"/>
          <p:cNvSpPr/>
          <p:nvPr/>
        </p:nvSpPr>
        <p:spPr>
          <a:xfrm>
            <a:off x="2331720" y="1993392"/>
            <a:ext cx="274320" cy="0"/>
          </a:xfrm>
          <a:prstGeom prst="line">
            <a:avLst/>
          </a:prstGeom>
          <a:noFill/>
          <a:ln w="25400">
            <a:solidFill>
              <a:srgbClr val="C9D6DC"/>
            </a:solidFill>
            <a:prstDash val="solid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4572000" y="1993392"/>
            <a:ext cx="274320" cy="0"/>
          </a:xfrm>
          <a:prstGeom prst="line">
            <a:avLst/>
          </a:prstGeom>
          <a:noFill/>
          <a:ln w="25400">
            <a:solidFill>
              <a:srgbClr val="C9D6DC"/>
            </a:solidFill>
            <a:prstDash val="solid"/>
            <a:headEnd type="none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6812280" y="1993392"/>
            <a:ext cx="274320" cy="0"/>
          </a:xfrm>
          <a:prstGeom prst="line">
            <a:avLst/>
          </a:prstGeom>
          <a:noFill/>
          <a:ln w="25400">
            <a:solidFill>
              <a:srgbClr val="C9D6DC"/>
            </a:solidFill>
            <a:prstDash val="solid"/>
            <a:headEnd type="none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9052560" y="1993392"/>
            <a:ext cx="274320" cy="0"/>
          </a:xfrm>
          <a:prstGeom prst="line">
            <a:avLst/>
          </a:prstGeom>
          <a:noFill/>
          <a:ln w="25400">
            <a:solidFill>
              <a:srgbClr val="C9D6DC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5833872" y="2743200"/>
            <a:ext cx="0" cy="1051560"/>
          </a:xfrm>
          <a:prstGeom prst="line">
            <a:avLst/>
          </a:prstGeom>
          <a:noFill/>
          <a:ln w="25400">
            <a:solidFill>
              <a:srgbClr val="C9D6DC"/>
            </a:solidFill>
            <a:prstDash val="solid"/>
            <a:headEnd type="none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6812280" y="4553712"/>
            <a:ext cx="274320" cy="0"/>
          </a:xfrm>
          <a:prstGeom prst="line">
            <a:avLst/>
          </a:prstGeom>
          <a:noFill/>
          <a:ln w="25400">
            <a:solidFill>
              <a:srgbClr val="C9D6DC"/>
            </a:solidFill>
            <a:prstDash val="solid"/>
            <a:headEnd type="none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4846320" y="4553712"/>
            <a:ext cx="0" cy="0"/>
          </a:xfrm>
          <a:prstGeom prst="line">
            <a:avLst/>
          </a:prstGeom>
          <a:noFill/>
          <a:ln w="25400">
            <a:solidFill>
              <a:srgbClr val="C9D6DC"/>
            </a:solidFill>
            <a:prstDash val="solid"/>
            <a:headEnd type="none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2606040" y="4553712"/>
            <a:ext cx="0" cy="0"/>
          </a:xfrm>
          <a:prstGeom prst="line">
            <a:avLst/>
          </a:prstGeom>
          <a:noFill/>
          <a:ln w="25400">
            <a:solidFill>
              <a:srgbClr val="C9D6DC"/>
            </a:solidFill>
            <a:prstDash val="solid"/>
            <a:headEnd type="none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9052560" y="4553712"/>
            <a:ext cx="274320" cy="0"/>
          </a:xfrm>
          <a:prstGeom prst="line">
            <a:avLst/>
          </a:prstGeom>
          <a:noFill/>
          <a:ln w="25400">
            <a:solidFill>
              <a:srgbClr val="C9D6DC"/>
            </a:solidFill>
            <a:prstDash val="solid"/>
            <a:headEnd type="none"/>
            <a:tailEnd type="triangle"/>
          </a:ln>
        </p:spPr>
      </p:sp>
      <p:sp>
        <p:nvSpPr>
          <p:cNvPr id="5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909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3B4C"/>
                </a:solidFill>
              </a:rPr>
              <a:t>7. Role-to-capability map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07080"/>
                </a:solidFill>
              </a:rPr>
              <a:t>Use this view to confirm access boundaries and MVP scope with executives.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2377440" cy="320040"/>
          </a:xfrm>
          <a:prstGeom prst="rect">
            <a:avLst/>
          </a:prstGeom>
          <a:solidFill>
            <a:srgbClr val="103B4C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Capability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926080" y="1325880"/>
            <a:ext cx="1572768" cy="320040"/>
          </a:xfrm>
          <a:prstGeom prst="rect">
            <a:avLst/>
          </a:prstGeom>
          <a:solidFill>
            <a:srgbClr val="103B4C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Visitor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617720" y="1325880"/>
            <a:ext cx="1572768" cy="320040"/>
          </a:xfrm>
          <a:prstGeom prst="rect">
            <a:avLst/>
          </a:prstGeom>
          <a:solidFill>
            <a:srgbClr val="103B4C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Customer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09360" y="1325880"/>
            <a:ext cx="1572768" cy="320040"/>
          </a:xfrm>
          <a:prstGeom prst="rect">
            <a:avLst/>
          </a:prstGeom>
          <a:solidFill>
            <a:srgbClr val="103B4C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Consultant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01000" y="1325880"/>
            <a:ext cx="1572768" cy="320040"/>
          </a:xfrm>
          <a:prstGeom prst="rect">
            <a:avLst/>
          </a:prstGeom>
          <a:solidFill>
            <a:srgbClr val="103B4C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Content Admin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92640" y="1325880"/>
            <a:ext cx="1572768" cy="320040"/>
          </a:xfrm>
          <a:prstGeom prst="rect">
            <a:avLst/>
          </a:prstGeom>
          <a:solidFill>
            <a:srgbClr val="103B4C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Platform Admin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709928"/>
            <a:ext cx="2377440" cy="420624"/>
          </a:xfrm>
          <a:prstGeom prst="rect">
            <a:avLst/>
          </a:prstGeom>
          <a:solidFill>
            <a:srgbClr val="EEF4F6"/>
          </a:solidFill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313F"/>
                </a:solidFill>
              </a:rPr>
              <a:t>Browse &amp; search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926080" y="1709928"/>
            <a:ext cx="1572768" cy="420624"/>
          </a:xfrm>
          <a:prstGeom prst="rect">
            <a:avLst/>
          </a:prstGeom>
          <a:solidFill>
            <a:srgbClr val="EEF4F6"/>
          </a:solidFill>
          <a:ln w="6350">
            <a:solidFill>
              <a:srgbClr val="E3E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0" y="176479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A6A6"/>
                </a:solidFill>
              </a:rPr>
              <a:t>●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617720" y="1709928"/>
            <a:ext cx="1572768" cy="420624"/>
          </a:xfrm>
          <a:prstGeom prst="rect">
            <a:avLst/>
          </a:prstGeom>
          <a:solidFill>
            <a:srgbClr val="EEF4F6"/>
          </a:solidFill>
          <a:ln w="6350">
            <a:solidFill>
              <a:srgbClr val="E3E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176479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A6A6"/>
                </a:solidFill>
              </a:rPr>
              <a:t>●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309360" y="1709928"/>
            <a:ext cx="1572768" cy="420624"/>
          </a:xfrm>
          <a:prstGeom prst="rect">
            <a:avLst/>
          </a:prstGeom>
          <a:solidFill>
            <a:srgbClr val="EEF4F6"/>
          </a:solidFill>
          <a:ln w="6350">
            <a:solidFill>
              <a:srgbClr val="E3E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76479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7A59"/>
                </a:solidFill>
              </a:rPr>
              <a:t>●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01000" y="1709928"/>
            <a:ext cx="1572768" cy="420624"/>
          </a:xfrm>
          <a:prstGeom prst="rect">
            <a:avLst/>
          </a:prstGeom>
          <a:solidFill>
            <a:srgbClr val="EEF4F6"/>
          </a:solidFill>
          <a:ln w="6350">
            <a:solidFill>
              <a:srgbClr val="E3E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01000" y="176479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C6BC5"/>
                </a:solidFill>
              </a:rPr>
              <a:t>●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692640" y="1709928"/>
            <a:ext cx="1572768" cy="420624"/>
          </a:xfrm>
          <a:prstGeom prst="rect">
            <a:avLst/>
          </a:prstGeom>
          <a:solidFill>
            <a:srgbClr val="EEF4F6"/>
          </a:solidFill>
          <a:ln w="6350">
            <a:solidFill>
              <a:srgbClr val="E3E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92640" y="176479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C6BC5"/>
                </a:solidFill>
              </a:rPr>
              <a:t>●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" y="2240280"/>
            <a:ext cx="237744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313F"/>
                </a:solidFill>
              </a:rPr>
              <a:t>Save shortlist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926080" y="2240280"/>
            <a:ext cx="157276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A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17720" y="2240280"/>
            <a:ext cx="157276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7720" y="2295144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A6A6"/>
                </a:solidFill>
              </a:rPr>
              <a:t>●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09360" y="2240280"/>
            <a:ext cx="157276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A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01000" y="2240280"/>
            <a:ext cx="157276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A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92640" y="2240280"/>
            <a:ext cx="157276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2770632"/>
            <a:ext cx="2377440" cy="420624"/>
          </a:xfrm>
          <a:prstGeom prst="rect">
            <a:avLst/>
          </a:prstGeom>
          <a:solidFill>
            <a:srgbClr val="EEF4F6"/>
          </a:solidFill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313F"/>
                </a:solidFill>
              </a:rPr>
              <a:t>Submit enquiry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926080" y="2770632"/>
            <a:ext cx="1572768" cy="420624"/>
          </a:xfrm>
          <a:prstGeom prst="rect">
            <a:avLst/>
          </a:prstGeom>
          <a:solidFill>
            <a:srgbClr val="EEF4F6"/>
          </a:solidFill>
          <a:ln w="6350">
            <a:solidFill>
              <a:srgbClr val="E3E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26080" y="2825496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A6A6"/>
                </a:solidFill>
              </a:rPr>
              <a:t>●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617720" y="2770632"/>
            <a:ext cx="1572768" cy="420624"/>
          </a:xfrm>
          <a:prstGeom prst="rect">
            <a:avLst/>
          </a:prstGeom>
          <a:solidFill>
            <a:srgbClr val="EEF4F6"/>
          </a:solidFill>
          <a:ln w="6350">
            <a:solidFill>
              <a:srgbClr val="E3E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17720" y="2825496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A6A6"/>
                </a:solidFill>
              </a:rPr>
              <a:t>●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09360" y="2770632"/>
            <a:ext cx="1572768" cy="420624"/>
          </a:xfrm>
          <a:prstGeom prst="rect">
            <a:avLst/>
          </a:prstGeom>
          <a:solidFill>
            <a:srgbClr val="EEF4F6"/>
          </a:solidFill>
          <a:ln w="6350">
            <a:solidFill>
              <a:srgbClr val="E3EAE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01000" y="2770632"/>
            <a:ext cx="1572768" cy="420624"/>
          </a:xfrm>
          <a:prstGeom prst="rect">
            <a:avLst/>
          </a:prstGeom>
          <a:solidFill>
            <a:srgbClr val="EEF4F6"/>
          </a:solidFill>
          <a:ln w="6350">
            <a:solidFill>
              <a:srgbClr val="E3EAE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692640" y="2770632"/>
            <a:ext cx="1572768" cy="420624"/>
          </a:xfrm>
          <a:prstGeom prst="rect">
            <a:avLst/>
          </a:prstGeom>
          <a:solidFill>
            <a:srgbClr val="EEF4F6"/>
          </a:solidFill>
          <a:ln w="6350">
            <a:solidFill>
              <a:srgbClr val="E3E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3300984"/>
            <a:ext cx="237744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313F"/>
                </a:solidFill>
              </a:rPr>
              <a:t>Manage assigned leads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2926080" y="3300984"/>
            <a:ext cx="157276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AE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17720" y="3300984"/>
            <a:ext cx="157276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AE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09360" y="3300984"/>
            <a:ext cx="157276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09360" y="335584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7A59"/>
                </a:solidFill>
              </a:rPr>
              <a:t>●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001000" y="3300984"/>
            <a:ext cx="157276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AE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692640" y="3300984"/>
            <a:ext cx="157276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A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92640" y="335584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C6BC5"/>
                </a:solidFill>
              </a:rPr>
              <a:t>●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02920" y="3831336"/>
            <a:ext cx="2377440" cy="420624"/>
          </a:xfrm>
          <a:prstGeom prst="rect">
            <a:avLst/>
          </a:prstGeom>
          <a:solidFill>
            <a:srgbClr val="EEF4F6"/>
          </a:solidFill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313F"/>
                </a:solidFill>
              </a:rPr>
              <a:t>Create quote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2926080" y="3831336"/>
            <a:ext cx="1572768" cy="420624"/>
          </a:xfrm>
          <a:prstGeom prst="rect">
            <a:avLst/>
          </a:prstGeom>
          <a:solidFill>
            <a:srgbClr val="EEF4F6"/>
          </a:solidFill>
          <a:ln w="6350">
            <a:solidFill>
              <a:srgbClr val="E3EAE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617720" y="3831336"/>
            <a:ext cx="1572768" cy="420624"/>
          </a:xfrm>
          <a:prstGeom prst="rect">
            <a:avLst/>
          </a:prstGeom>
          <a:solidFill>
            <a:srgbClr val="EEF4F6"/>
          </a:solidFill>
          <a:ln w="6350">
            <a:solidFill>
              <a:srgbClr val="E3EAE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09360" y="3831336"/>
            <a:ext cx="1572768" cy="420624"/>
          </a:xfrm>
          <a:prstGeom prst="rect">
            <a:avLst/>
          </a:prstGeom>
          <a:solidFill>
            <a:srgbClr val="EEF4F6"/>
          </a:solidFill>
          <a:ln w="6350">
            <a:solidFill>
              <a:srgbClr val="E3EAE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09360" y="388620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7A59"/>
                </a:solidFill>
              </a:rPr>
              <a:t>●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001000" y="3831336"/>
            <a:ext cx="1572768" cy="420624"/>
          </a:xfrm>
          <a:prstGeom prst="rect">
            <a:avLst/>
          </a:prstGeom>
          <a:solidFill>
            <a:srgbClr val="EEF4F6"/>
          </a:solidFill>
          <a:ln w="6350">
            <a:solidFill>
              <a:srgbClr val="E3EAE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692640" y="3831336"/>
            <a:ext cx="1572768" cy="420624"/>
          </a:xfrm>
          <a:prstGeom prst="rect">
            <a:avLst/>
          </a:prstGeom>
          <a:solidFill>
            <a:srgbClr val="EEF4F6"/>
          </a:solidFill>
          <a:ln w="6350">
            <a:solidFill>
              <a:srgbClr val="E3EAE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692640" y="388620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C6BC5"/>
                </a:solidFill>
              </a:rPr>
              <a:t>●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502920" y="4361688"/>
            <a:ext cx="237744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313F"/>
                </a:solidFill>
              </a:rPr>
              <a:t>Publish content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2926080" y="4361688"/>
            <a:ext cx="157276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AE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617720" y="4361688"/>
            <a:ext cx="157276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AE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309360" y="4361688"/>
            <a:ext cx="157276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AE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001000" y="4361688"/>
            <a:ext cx="157276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AE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001000" y="441655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C6BC5"/>
                </a:solidFill>
              </a:rPr>
              <a:t>●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9692640" y="4361688"/>
            <a:ext cx="157276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AE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692640" y="441655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C6BC5"/>
                </a:solidFill>
              </a:rPr>
              <a:t>●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502920" y="4892040"/>
            <a:ext cx="2377440" cy="420624"/>
          </a:xfrm>
          <a:prstGeom prst="rect">
            <a:avLst/>
          </a:prstGeom>
          <a:solidFill>
            <a:srgbClr val="EEF4F6"/>
          </a:solidFill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313F"/>
                </a:solidFill>
              </a:rPr>
              <a:t>Manage users/config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2926080" y="4892040"/>
            <a:ext cx="1572768" cy="420624"/>
          </a:xfrm>
          <a:prstGeom prst="rect">
            <a:avLst/>
          </a:prstGeom>
          <a:solidFill>
            <a:srgbClr val="EEF4F6"/>
          </a:solidFill>
          <a:ln w="6350">
            <a:solidFill>
              <a:srgbClr val="E3EAED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617720" y="4892040"/>
            <a:ext cx="1572768" cy="420624"/>
          </a:xfrm>
          <a:prstGeom prst="rect">
            <a:avLst/>
          </a:prstGeom>
          <a:solidFill>
            <a:srgbClr val="EEF4F6"/>
          </a:solidFill>
          <a:ln w="6350">
            <a:solidFill>
              <a:srgbClr val="E3EAED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309360" y="4892040"/>
            <a:ext cx="1572768" cy="420624"/>
          </a:xfrm>
          <a:prstGeom prst="rect">
            <a:avLst/>
          </a:prstGeom>
          <a:solidFill>
            <a:srgbClr val="EEF4F6"/>
          </a:solidFill>
          <a:ln w="6350">
            <a:solidFill>
              <a:srgbClr val="E3EAED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001000" y="4892040"/>
            <a:ext cx="1572768" cy="420624"/>
          </a:xfrm>
          <a:prstGeom prst="rect">
            <a:avLst/>
          </a:prstGeom>
          <a:solidFill>
            <a:srgbClr val="EEF4F6"/>
          </a:solidFill>
          <a:ln w="6350">
            <a:solidFill>
              <a:srgbClr val="E3EAED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692640" y="4892040"/>
            <a:ext cx="1572768" cy="420624"/>
          </a:xfrm>
          <a:prstGeom prst="rect">
            <a:avLst/>
          </a:prstGeom>
          <a:solidFill>
            <a:srgbClr val="EEF4F6"/>
          </a:solidFill>
          <a:ln w="6350">
            <a:solidFill>
              <a:srgbClr val="E3EAE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692640" y="4946904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C6BC5"/>
                </a:solidFill>
              </a:rPr>
              <a:t>●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502920" y="5422392"/>
            <a:ext cx="237744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313F"/>
                </a:solidFill>
              </a:rPr>
              <a:t>View audit/reporting</a:t>
            </a:r>
            <a:endParaRPr lang="en-US" sz="1150" dirty="0"/>
          </a:p>
        </p:txBody>
      </p:sp>
      <p:sp>
        <p:nvSpPr>
          <p:cNvPr id="68" name="Shape 66"/>
          <p:cNvSpPr/>
          <p:nvPr/>
        </p:nvSpPr>
        <p:spPr>
          <a:xfrm>
            <a:off x="2926080" y="5422392"/>
            <a:ext cx="157276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AED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617720" y="5422392"/>
            <a:ext cx="157276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AED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309360" y="5422392"/>
            <a:ext cx="157276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AE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309360" y="5477256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7A59"/>
                </a:solidFill>
              </a:rPr>
              <a:t>●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8001000" y="5422392"/>
            <a:ext cx="157276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AE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001000" y="5477256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C6BC5"/>
                </a:solidFill>
              </a:rPr>
              <a:t>●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9692640" y="5422392"/>
            <a:ext cx="157276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3EAE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692640" y="5477256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C6BC5"/>
                </a:solidFill>
              </a:rPr>
              <a:t>●</a:t>
            </a:r>
            <a:endParaRPr lang="en-US" sz="1600" dirty="0"/>
          </a:p>
        </p:txBody>
      </p:sp>
      <p:sp>
        <p:nvSpPr>
          <p:cNvPr id="7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909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3B4C"/>
                </a:solidFill>
              </a:rPr>
              <a:t>8. Data flow and security boundaries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07080"/>
                </a:solidFill>
              </a:rPr>
              <a:t>Controls should be designed around personally identifiable information, payment separation and privileged administration.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DFF6F4"/>
          </a:solidFill>
          <a:ln w="15240">
            <a:solidFill>
              <a:srgbClr val="00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1417320"/>
            <a:ext cx="1746504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313F"/>
                </a:solidFill>
              </a:rPr>
              <a:t>Public Browser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434340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FFF4E8"/>
          </a:solidFill>
          <a:ln w="15240">
            <a:solidFill>
              <a:srgbClr val="FF7A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4434840"/>
            <a:ext cx="1746504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313F"/>
                </a:solidFill>
              </a:rPr>
              <a:t>Staff Browser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46120" y="1325880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240">
            <a:solidFill>
              <a:srgbClr val="C9D6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55848" y="1417320"/>
            <a:ext cx="1837944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313F"/>
                </a:solidFill>
              </a:rPr>
              <a:t>CDN / WAF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46120" y="4343400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240">
            <a:solidFill>
              <a:srgbClr val="C9D6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55848" y="4434840"/>
            <a:ext cx="1837944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313F"/>
                </a:solidFill>
              </a:rPr>
              <a:t>Identity + MFA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80760" y="2057400"/>
            <a:ext cx="21488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5240">
            <a:solidFill>
              <a:srgbClr val="00A6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90488" y="2148840"/>
            <a:ext cx="1929384" cy="1737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2313F"/>
                </a:solidFill>
              </a:rPr>
              <a:t>Application / API</a:t>
            </a:r>
            <a:endParaRPr lang="en-US" sz="1700" dirty="0"/>
          </a:p>
          <a:p>
            <a:pPr marL="0" indent="0" algn="ctr">
              <a:buNone/>
            </a:pP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22313F"/>
                </a:solidFill>
              </a:rPr>
              <a:t>Validation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22313F"/>
                </a:solidFill>
              </a:rPr>
              <a:t>RBAC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22313F"/>
                </a:solidFill>
              </a:rPr>
              <a:t>Rate limits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9144000" y="123444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EEF4F6"/>
          </a:solidFill>
          <a:ln w="15240">
            <a:solidFill>
              <a:srgbClr val="C9D6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53728" y="1325880"/>
            <a:ext cx="2112264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313F"/>
                </a:solidFill>
              </a:rPr>
              <a:t>Operational DB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144000" y="251460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EEF4F6"/>
          </a:solidFill>
          <a:ln w="15240">
            <a:solidFill>
              <a:srgbClr val="C9D6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53728" y="2606040"/>
            <a:ext cx="2112264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313F"/>
                </a:solidFill>
              </a:rPr>
              <a:t>Object Storage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144000" y="379476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EEF4F6"/>
          </a:solidFill>
          <a:ln w="15240">
            <a:solidFill>
              <a:srgbClr val="C9D6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53728" y="3886200"/>
            <a:ext cx="2112264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313F"/>
                </a:solidFill>
              </a:rPr>
              <a:t>Audit / Monitoring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144000" y="507492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F4EEFF"/>
          </a:solidFill>
          <a:ln w="15240">
            <a:solidFill>
              <a:srgbClr val="8C6BC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53728" y="5166360"/>
            <a:ext cx="2112264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313F"/>
                </a:solidFill>
              </a:rPr>
              <a:t>Payment Provider (P2)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468880" y="1719072"/>
            <a:ext cx="777240" cy="0"/>
          </a:xfrm>
          <a:prstGeom prst="line">
            <a:avLst/>
          </a:prstGeom>
          <a:noFill/>
          <a:ln w="2540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303520" y="1719072"/>
            <a:ext cx="777240" cy="749808"/>
          </a:xfrm>
          <a:prstGeom prst="line">
            <a:avLst/>
          </a:prstGeom>
          <a:noFill/>
          <a:ln w="2540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468880" y="4736592"/>
            <a:ext cx="777240" cy="0"/>
          </a:xfrm>
          <a:prstGeom prst="line">
            <a:avLst/>
          </a:prstGeom>
          <a:noFill/>
          <a:ln w="2540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303520" y="4736592"/>
            <a:ext cx="777240" cy="0"/>
          </a:xfrm>
          <a:prstGeom prst="line">
            <a:avLst/>
          </a:prstGeom>
          <a:noFill/>
          <a:ln w="2540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229600" y="1627632"/>
            <a:ext cx="914400" cy="0"/>
          </a:xfrm>
          <a:prstGeom prst="line">
            <a:avLst/>
          </a:prstGeom>
          <a:noFill/>
          <a:ln w="2540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229600" y="2907792"/>
            <a:ext cx="914400" cy="0"/>
          </a:xfrm>
          <a:prstGeom prst="line">
            <a:avLst/>
          </a:prstGeom>
          <a:noFill/>
          <a:ln w="2540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229600" y="4187952"/>
            <a:ext cx="914400" cy="0"/>
          </a:xfrm>
          <a:prstGeom prst="line">
            <a:avLst/>
          </a:prstGeom>
          <a:noFill/>
          <a:ln w="2540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229600" y="5468112"/>
            <a:ext cx="914400" cy="0"/>
          </a:xfrm>
          <a:prstGeom prst="line">
            <a:avLst/>
          </a:prstGeom>
          <a:noFill/>
          <a:ln w="2540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5897880" y="123444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64545"/>
                </a:solidFill>
              </a:rPr>
              <a:t>Trust boundary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760720" y="1143000"/>
            <a:ext cx="2697480" cy="429768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D64545"/>
            </a:solidFill>
            <a:prstDash val="solid"/>
          </a:ln>
        </p:spPr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909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3B4C"/>
                </a:solidFill>
              </a:rPr>
              <a:t>9. Delivery decomposition and executive gates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07080"/>
                </a:solidFill>
              </a:rPr>
              <a:t>Build in controlled increments while preserving a path to direct booking.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542032" cy="2834640"/>
          </a:xfrm>
          <a:prstGeom prst="roundRect">
            <a:avLst/>
          </a:prstGeom>
          <a:solidFill>
            <a:srgbClr val="DFF6F4"/>
          </a:solidFill>
          <a:ln w="19050">
            <a:solidFill>
              <a:srgbClr val="00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664208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7080"/>
                </a:solidFill>
              </a:rPr>
              <a:t>PHASE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9224" y="1993392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3B4C"/>
                </a:solidFill>
              </a:rPr>
              <a:t>MVP FOUNDATION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2084832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2313F"/>
                </a:solidFill>
              </a:rPr>
              <a:t>Catalog, search, CMS, enquiry capture, assignment, basic reporting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044952" y="2834640"/>
            <a:ext cx="310896" cy="0"/>
          </a:xfrm>
          <a:prstGeom prst="line">
            <a:avLst/>
          </a:prstGeom>
          <a:noFill/>
          <a:ln w="25400">
            <a:solidFill>
              <a:srgbClr val="C9D6DC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355848" y="1417320"/>
            <a:ext cx="2542032" cy="2834640"/>
          </a:xfrm>
          <a:prstGeom prst="roundRect">
            <a:avLst/>
          </a:prstGeom>
          <a:solidFill>
            <a:srgbClr val="FFF4E8"/>
          </a:solidFill>
          <a:ln w="19050">
            <a:solidFill>
              <a:srgbClr val="FF7A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1664208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7080"/>
                </a:solidFill>
              </a:rPr>
              <a:t>PHASE 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02152" y="1993392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3B4C"/>
                </a:solidFill>
              </a:rPr>
              <a:t>COMMERCIAL OPS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84448" y="2651760"/>
            <a:ext cx="2084832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2313F"/>
                </a:solidFill>
              </a:rPr>
              <a:t>Quote versions, itinerary, communication log, dashboards, workflow rules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897880" y="2834640"/>
            <a:ext cx="310896" cy="0"/>
          </a:xfrm>
          <a:prstGeom prst="line">
            <a:avLst/>
          </a:prstGeom>
          <a:noFill/>
          <a:ln w="25400">
            <a:solidFill>
              <a:srgbClr val="C9D6DC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208776" y="1417320"/>
            <a:ext cx="2542032" cy="2834640"/>
          </a:xfrm>
          <a:prstGeom prst="roundRect">
            <a:avLst/>
          </a:prstGeom>
          <a:solidFill>
            <a:srgbClr val="F4EEFF"/>
          </a:solidFill>
          <a:ln w="19050">
            <a:solidFill>
              <a:srgbClr val="8C6B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664208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7080"/>
                </a:solidFill>
              </a:rPr>
              <a:t>PHASE 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55080" y="1993392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3B4C"/>
                </a:solidFill>
              </a:rPr>
              <a:t>CUSTOMER EXPERIENCE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37376" y="2651760"/>
            <a:ext cx="2084832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2313F"/>
                </a:solidFill>
              </a:rPr>
              <a:t>Accounts, wishlist sync, notifications, multilingual content, personalization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750808" y="2834640"/>
            <a:ext cx="310896" cy="0"/>
          </a:xfrm>
          <a:prstGeom prst="line">
            <a:avLst/>
          </a:prstGeom>
          <a:noFill/>
          <a:ln w="25400">
            <a:solidFill>
              <a:srgbClr val="C9D6DC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061704" y="1417320"/>
            <a:ext cx="2542032" cy="2834640"/>
          </a:xfrm>
          <a:prstGeom prst="roundRect">
            <a:avLst/>
          </a:prstGeom>
          <a:solidFill>
            <a:srgbClr val="E9F6EE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26296" y="1664208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7080"/>
                </a:solidFill>
              </a:rPr>
              <a:t>PHASE 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208008" y="1993392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3B4C"/>
                </a:solidFill>
              </a:rPr>
              <a:t>TRANSACTIONAL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290304" y="2651760"/>
            <a:ext cx="2084832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2313F"/>
                </a:solidFill>
              </a:rPr>
              <a:t>Live inventory, partner feeds, payment, booking, cancellation and reconciliation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94360" y="48006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3B4C"/>
                </a:solidFill>
              </a:rPr>
              <a:t>Executive gates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920240" y="4736592"/>
            <a:ext cx="9555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07080"/>
                </a:solidFill>
              </a:rPr>
              <a:t>1) business model and MVP boundary   2) operating ownership and service levels   3) data/privacy posture   4) partner integration strategy   5) payment and booking model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909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3B4C"/>
                </a:solidFill>
              </a:rPr>
              <a:t>10. Decisions required before detailed design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07080"/>
                </a:solidFill>
              </a:rPr>
              <a:t>Resolve these items to convert the SRS into an implementation backlog and data dictionary.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534924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6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6245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6A6"/>
                </a:solidFill>
              </a:rPr>
              <a:t>Commercial model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148840" y="1344168"/>
            <a:ext cx="3547872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22313F"/>
                </a:solidFill>
              </a:rPr>
              <a:t>Lead-generation only, agent-assisted sale, or direct booking?</a:t>
            </a:r>
            <a:endParaRPr lang="en-US" sz="1180" dirty="0"/>
          </a:p>
        </p:txBody>
      </p:sp>
      <p:sp>
        <p:nvSpPr>
          <p:cNvPr id="7" name="Shape 5"/>
          <p:cNvSpPr/>
          <p:nvPr/>
        </p:nvSpPr>
        <p:spPr>
          <a:xfrm>
            <a:off x="6263640" y="1234440"/>
            <a:ext cx="534924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6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28232" y="136245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6A6"/>
                </a:solidFill>
              </a:rPr>
              <a:t>Inventory authority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863840" y="1344168"/>
            <a:ext cx="3547872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22313F"/>
                </a:solidFill>
              </a:rPr>
              <a:t>Editorial offers, contracted rates, or real-time supplier inventory?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548640" y="2423160"/>
            <a:ext cx="534924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6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55117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6A6"/>
                </a:solidFill>
              </a:rPr>
              <a:t>Quotation rules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48840" y="2532888"/>
            <a:ext cx="3547872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22313F"/>
                </a:solidFill>
              </a:rPr>
              <a:t>Currencies, taxes, markups, discounts, approval thresholds and expiry.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6263640" y="2423160"/>
            <a:ext cx="534924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6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28232" y="255117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6A6"/>
                </a:solidFill>
              </a:rPr>
              <a:t>Ownership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863840" y="2532888"/>
            <a:ext cx="3547872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22313F"/>
                </a:solidFill>
              </a:rPr>
              <a:t>Who owns resorts, offers, content, lead assignment and customer support?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548640" y="3611880"/>
            <a:ext cx="534924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6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73989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6A6"/>
                </a:solidFill>
              </a:rPr>
              <a:t>Customer identity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148840" y="3721608"/>
            <a:ext cx="3547872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22313F"/>
                </a:solidFill>
              </a:rPr>
              <a:t>Anonymous wishlist only, optional account, or account required?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6263640" y="3611880"/>
            <a:ext cx="534924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6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28232" y="373989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6A6"/>
                </a:solidFill>
              </a:rPr>
              <a:t>Compliance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863840" y="3721608"/>
            <a:ext cx="3547872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22313F"/>
                </a:solidFill>
              </a:rPr>
              <a:t>Consent, retention, cookie policy, data export/deletion and payment scope.</a:t>
            </a:r>
            <a:endParaRPr lang="en-US" sz="1180" dirty="0"/>
          </a:p>
        </p:txBody>
      </p:sp>
      <p:sp>
        <p:nvSpPr>
          <p:cNvPr id="22" name="Shape 20"/>
          <p:cNvSpPr/>
          <p:nvPr/>
        </p:nvSpPr>
        <p:spPr>
          <a:xfrm>
            <a:off x="548640" y="4800600"/>
            <a:ext cx="534924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6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" y="492861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6A6"/>
                </a:solidFill>
              </a:rPr>
              <a:t>Integrations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148840" y="4910328"/>
            <a:ext cx="3547872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22313F"/>
                </a:solidFill>
              </a:rPr>
              <a:t>Email, CRM, maps, analytics, partner feeds, payment and accounting.</a:t>
            </a:r>
            <a:endParaRPr lang="en-US" sz="1180" dirty="0"/>
          </a:p>
        </p:txBody>
      </p:sp>
      <p:sp>
        <p:nvSpPr>
          <p:cNvPr id="25" name="Shape 23"/>
          <p:cNvSpPr/>
          <p:nvPr/>
        </p:nvSpPr>
        <p:spPr>
          <a:xfrm>
            <a:off x="6263640" y="4800600"/>
            <a:ext cx="534924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6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28232" y="492861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6A6"/>
                </a:solidFill>
              </a:rPr>
              <a:t>Success metrics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863840" y="4910328"/>
            <a:ext cx="3547872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22313F"/>
                </a:solidFill>
              </a:rPr>
              <a:t>Qualified leads, response SLA, quote conversion, booking value and content performance.</a:t>
            </a:r>
            <a:endParaRPr lang="en-US" sz="118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909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Tourism Marketplace Platform - Architecture and Process Diagrams</dc:title>
  <dc:subject>Tourism Marketplace diagrams</dc:subject>
  <dc:creator>Naais Mohamed</dc:creator>
  <cp:lastModifiedBy>Naais Mohamed</cp:lastModifiedBy>
  <cp:revision>4</cp:revision>
  <dcterms:created xsi:type="dcterms:W3CDTF">2026-10-10T16:30:59Z</dcterms:created>
  <dcterms:modified xsi:type="dcterms:W3CDTF">2026-10-10T17:15:41Z</dcterms:modified>
</cp:coreProperties>
</file>